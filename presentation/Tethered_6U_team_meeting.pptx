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18da229-a10e-54a3-3b42-a984799013f9}">
          <p14:sldIdLst>
            <p14:sldId id="256"/>
            <p14:sldId id="257"/>
          </p14:sldIdLst>
        </p14:section>
        <p14:section name="Tether range and orientation" id="{7f0ad480-5804-8593-9d32-9a9a7034af0b}">
          <p14:sldIdLst>
            <p14:sldId id="258"/>
            <p14:sldId id="259"/>
            <p14:sldId id="260"/>
            <p14:sldId id="261"/>
            <p14:sldId id="262"/>
          </p14:sldIdLst>
        </p14:section>
        <p14:section name="Relative attitude" id="{16575b1c-5534-a62d-8e35-f131025c628e}">
          <p14:sldIdLst>
            <p14:sldId id="263"/>
            <p14:sldId id="264"/>
          </p14:sldIdLst>
        </p14:section>
        <p14:section name="State of the art" id="{18fce6aa-e831-a10b-bcda-7ae8521d3cfc}">
          <p14:sldIdLst>
            <p14:sldId id="265"/>
            <p14:sldId id="266"/>
            <p14:sldId id="267"/>
          </p14:sldIdLst>
        </p14:section>
        <p14:section name="3D imaging" id="{dc64a63a-3d57-f333-568e-48fba4977297}">
          <p14:sldIdLst>
            <p14:sldId id="268"/>
            <p14:sldId id="269"/>
            <p14:sldId id="270"/>
          </p14:sldIdLst>
        </p14:section>
        <p14:section name="Risks and next steps" id="{a59a1ddf-1607-9613-d9d5-436bbbd1a095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of the meeting: agree on tether length, attitude sensors and the imaging claim before writing the proposal. All numbers assume two 4 kg halves at 550 km.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card per question raised for this meeting. The rest of the deck backs each card with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Gravity gradient: below the orbit centre gravity exceeds what circular motion needs, above it falls short. The tether supplies the difference. This only works radially; along-track gives zero tension and cross-track pushes the halves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Controlled deployment: tether paid out exponentially at half the orbital rate, which keeps libration bounded. Orbit life: the tethers themselves add 0.3 to 0.6 square metres of drag area, more than the satellites. That shortens the mission but helps the 5-year deorbit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winch pays the tether out slowly. Too fast and the Coriolis effect tips the tether towards horizontal. The free curve is the textbook cosh solution, which ignores libration.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tension at angle phi is 3 n^2 m_eq L cos^2 phi, and the gravity-gradient torque 3 n^2 I sin phi cos phi always pushes back to vertical. Only wheels could hold the angle and they are three orders of magnitude too weak.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to the idea that the tether keeps separating as speed or tension grows: tension rises linearly with length (3.6 mN at 500 m, 7.2 mN at 1 km) but the stretch is below a millimetre. The real length change is thermal, up to a metre at 1 km for polyethylene fibre, which is why active winch compensation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 both IMUs to zero while the halves are joined is a good calibration step, but it does not survive. The error grows with time and cannot be reset without an external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Relative attitude = attitude of B minus attitude of A, each from its own star tracker. Dual GNSS gives the baseline vector, i.e. the tether direction. Encoders give a third, independent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Failures cluster in deployment: friction, slack and electrical issues. ATEx is the closest warning for us: the tether went slack after sunrise. TEPCE is the closest architecture: a CubeSat split in two by a spring.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Images provided by the team from previous tether work. Confirm the original mission and source of each image before citing them in the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novelty is not deploying a tether, which is well proven, but controlling three tethers and their thermal length change at CubeSat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Height comes from parallax: how much a summit shifts between two photos. The shift is proportional to the baseline divided by the altitude, B/H.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Height error = matching error / (B/H). With 0.3 pixel matching at 5 m pixels, that is 1.5 m divided by B/H. Even a horizontal 1 km baseline gives B/H = 0.0018. Relief needs at least about 8 km of baseline for 100 m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Fore/aft: half A looks 12 degrees ahead, half B 12 degrees behind; 234 km of orbit between shots. The gimbal adds 635 km of reachable swath. Present 3D as a secondary objective; the tether's value is thermal compensation and metrology.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drag point is the surprise: at 1 km the tethers dominate the drag. That helps deorbit compliance but may make the mission shorter than the operations plan. Run a formal lifetime analysis with STELA or DRAMA.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agreeing owners and dates for each decision. Questions to CSA must go out before 9 November.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CUBICS 2026 · Tethered 6U · Team meeting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Tethered 6U CubeSat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Tether range, relative attitude, heritage and 3D imaging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CUBICS 2026 · Stream 1 · Team meeting, October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SUMMARY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Four answers for today</a:t>
            </a:r>
            <a:endParaRPr lang="en-US" sz="3200" dirty="0"/>
          </a:p>
        </p:txBody>
      </p:sp>
      <p:sp>
        <p:nvSpPr>
          <p:cNvPr id="4" name="card Tether range"/>
          <p:cNvSpPr/>
          <p:nvPr/>
        </p:nvSpPr>
        <p:spPr>
          <a:xfrm>
            <a:off x="548640" y="164592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ther range circle"/>
          <p:cNvSpPr/>
          <p:nvPr/>
        </p:nvSpPr>
        <p:spPr>
          <a:xfrm>
            <a:off x="822960" y="19202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Tether range icon" descr="Tether ran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071116"/>
            <a:ext cx="384048" cy="384048"/>
          </a:xfrm>
          <a:prstGeom prst="rect">
            <a:avLst/>
          </a:prstGeom>
        </p:spPr>
      </p:pic>
      <p:sp>
        <p:nvSpPr>
          <p:cNvPr id="7" name="Tether range header"/>
          <p:cNvSpPr txBox="1"/>
          <p:nvPr/>
        </p:nvSpPr>
        <p:spPr>
          <a:xfrm>
            <a:off x="1737360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Tether range</a:t>
            </a:r>
            <a:endParaRPr lang="en-US" sz="2000" dirty="0"/>
          </a:p>
        </p:txBody>
      </p:sp>
      <p:sp>
        <p:nvSpPr>
          <p:cNvPr id="8" name="Tether range text"/>
          <p:cNvSpPr txBox="1"/>
          <p:nvPr/>
        </p:nvSpPr>
        <p:spPr>
          <a:xfrm>
            <a:off x="1737360" y="242316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Vertical only. 500 m to 1 km is feasible: 3.6 to 7.2 mN of tension and about 3.5 h to deploy.</a:t>
            </a:r>
            <a:endParaRPr lang="en-US" sz="1500" dirty="0"/>
          </a:p>
        </p:txBody>
      </p:sp>
      <p:sp>
        <p:nvSpPr>
          <p:cNvPr id="9" name="card Relative attitude"/>
          <p:cNvSpPr/>
          <p:nvPr/>
        </p:nvSpPr>
        <p:spPr>
          <a:xfrm>
            <a:off x="6245352" y="164592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Relative attitude circle"/>
          <p:cNvSpPr/>
          <p:nvPr/>
        </p:nvSpPr>
        <p:spPr>
          <a:xfrm>
            <a:off x="6519672" y="192024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Relative attitude icon" descr="Relative attitu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548" y="2071116"/>
            <a:ext cx="384048" cy="384048"/>
          </a:xfrm>
          <a:prstGeom prst="rect">
            <a:avLst/>
          </a:prstGeom>
        </p:spPr>
      </p:pic>
      <p:sp>
        <p:nvSpPr>
          <p:cNvPr id="12" name="Relative attitude header"/>
          <p:cNvSpPr txBox="1"/>
          <p:nvPr/>
        </p:nvSpPr>
        <p:spPr>
          <a:xfrm>
            <a:off x="7434072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Relative attitude</a:t>
            </a:r>
            <a:endParaRPr lang="en-US" sz="2000" dirty="0"/>
          </a:p>
        </p:txBody>
      </p:sp>
      <p:sp>
        <p:nvSpPr>
          <p:cNvPr id="13" name="Relative attitude text"/>
          <p:cNvSpPr txBox="1"/>
          <p:nvPr/>
        </p:nvSpPr>
        <p:spPr>
          <a:xfrm>
            <a:off x="7434072" y="242316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IMUs alone drift within minutes. Add a star tracker on each half and dual GNSS; use the stowed zero only to calibrate.</a:t>
            </a:r>
            <a:endParaRPr lang="en-US" sz="1500" dirty="0"/>
          </a:p>
        </p:txBody>
      </p:sp>
      <p:sp>
        <p:nvSpPr>
          <p:cNvPr id="14" name="card State of the art"/>
          <p:cNvSpPr/>
          <p:nvPr/>
        </p:nvSpPr>
        <p:spPr>
          <a:xfrm>
            <a:off x="548640" y="402336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tate of the art circle"/>
          <p:cNvSpPr/>
          <p:nvPr/>
        </p:nvSpPr>
        <p:spPr>
          <a:xfrm>
            <a:off x="822960" y="42976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State of the art icon" descr="State of the 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4448556"/>
            <a:ext cx="384048" cy="384048"/>
          </a:xfrm>
          <a:prstGeom prst="rect">
            <a:avLst/>
          </a:prstGeom>
        </p:spPr>
      </p:pic>
      <p:sp>
        <p:nvSpPr>
          <p:cNvPr id="17" name="State of the art header"/>
          <p:cNvSpPr txBox="1"/>
          <p:nvPr/>
        </p:nvSpPr>
        <p:spPr>
          <a:xfrm>
            <a:off x="1737360" y="4297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State of the art</a:t>
            </a:r>
            <a:endParaRPr lang="en-US" sz="2000" dirty="0"/>
          </a:p>
        </p:txBody>
      </p:sp>
      <p:sp>
        <p:nvSpPr>
          <p:cNvPr id="18" name="State of the art text"/>
          <p:cNvSpPr txBox="1"/>
          <p:nvPr/>
        </p:nvSpPr>
        <p:spPr>
          <a:xfrm>
            <a:off x="1737360" y="48006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Tethers have flown since 1966. Most failures happen during deployment.</a:t>
            </a:r>
            <a:endParaRPr lang="en-US" sz="1500" dirty="0"/>
          </a:p>
        </p:txBody>
      </p:sp>
      <p:sp>
        <p:nvSpPr>
          <p:cNvPr id="19" name="card 3D photos"/>
          <p:cNvSpPr/>
          <p:nvPr/>
        </p:nvSpPr>
        <p:spPr>
          <a:xfrm>
            <a:off x="6245352" y="402336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3D photos circle"/>
          <p:cNvSpPr/>
          <p:nvPr/>
        </p:nvSpPr>
        <p:spPr>
          <a:xfrm>
            <a:off x="6519672" y="429768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3D photos icon" descr="3D photo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548" y="4448556"/>
            <a:ext cx="384048" cy="384048"/>
          </a:xfrm>
          <a:prstGeom prst="rect">
            <a:avLst/>
          </a:prstGeom>
        </p:spPr>
      </p:pic>
      <p:sp>
        <p:nvSpPr>
          <p:cNvPr id="22" name="3D photos header"/>
          <p:cNvSpPr txBox="1"/>
          <p:nvPr/>
        </p:nvSpPr>
        <p:spPr>
          <a:xfrm>
            <a:off x="7434072" y="4297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3D photos</a:t>
            </a:r>
            <a:endParaRPr lang="en-US" sz="2000" dirty="0"/>
          </a:p>
        </p:txBody>
      </p:sp>
      <p:sp>
        <p:nvSpPr>
          <p:cNvPr id="23" name="3D photos text"/>
          <p:cNvSpPr txBox="1"/>
          <p:nvPr/>
        </p:nvSpPr>
        <p:spPr>
          <a:xfrm>
            <a:off x="7434072" y="48006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Not with a 0.5 to 1 km baseline: errors of 0.8 to 1.7 km. Yes with fore/aft camera pointing: about 3.5 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 · TETHER RANGE AND ORIENTATION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Only a vertical tether stays taut</a:t>
            </a:r>
            <a:endParaRPr lang="en-US" sz="3200" dirty="0"/>
          </a:p>
        </p:txBody>
      </p:sp>
      <p:pic>
        <p:nvPicPr>
          <p:cNvPr id="4" name="Vertical pair geometry" descr="Vertical pair geomet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4617720" cy="4645152"/>
          </a:xfrm>
          <a:prstGeom prst="rect">
            <a:avLst/>
          </a:prstGeom>
        </p:spPr>
      </p:pic>
      <p:sp>
        <p:nvSpPr>
          <p:cNvPr id="5" name="Why vertical"/>
          <p:cNvSpPr txBox="1"/>
          <p:nvPr/>
        </p:nvSpPr>
        <p:spPr>
          <a:xfrm>
            <a:off x="5760720" y="1737360"/>
            <a:ext cx="5852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Gravity pulls the lower half a little more and the upper half a little less.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That difference keeps the three tethers taut, with no power.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pair settles along the local vertical by itself.</a:t>
            </a:r>
            <a:endParaRPr lang="en-US" sz="1600" dirty="0"/>
          </a:p>
        </p:txBody>
      </p:sp>
      <p:sp>
        <p:nvSpPr>
          <p:cNvPr id="6" name="formula card"/>
          <p:cNvSpPr/>
          <p:nvPr/>
        </p:nvSpPr>
        <p:spPr>
          <a:xfrm>
            <a:off x="5760720" y="4069080"/>
            <a:ext cx="5852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nsion formula"/>
          <p:cNvSpPr txBox="1"/>
          <p:nvPr/>
        </p:nvSpPr>
        <p:spPr>
          <a:xfrm>
            <a:off x="6035040" y="42519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3 n² m_eq L</a:t>
            </a:r>
            <a:endParaRPr lang="en-US" sz="3200" dirty="0"/>
          </a:p>
        </p:txBody>
      </p:sp>
      <p:sp>
        <p:nvSpPr>
          <p:cNvPr id="8" name="formula caption"/>
          <p:cNvSpPr txBox="1"/>
          <p:nvPr/>
        </p:nvSpPr>
        <p:spPr>
          <a:xfrm>
            <a:off x="6035040" y="49834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 = orbital rate at 550 km, m_eq = 2 kg, L = separation. Tension grows linearly with the tether length.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 · TETHER RANGE AND ORIENTATION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500 m to 1 km: the key numbers</a:t>
            </a:r>
            <a:endParaRPr lang="en-US" sz="3200" dirty="0"/>
          </a:p>
        </p:txBody>
      </p:sp>
      <p:graphicFrame>
        <p:nvGraphicFramePr>
          <p:cNvPr id="5" name="range number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3108960"/>
                <a:gridCol w="31089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Quantity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L = 500 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L = 1 km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Total tension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3.6 mN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7.2 mN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Tension per tether (3 tethers)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1.2 mN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2.4 mN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Deployment time, controlled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3.2 h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3.5 h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Free deployment, no brake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75 min, ends at 0.95 m/s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81 min, ends at 1.9 m/s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Tether mass (3 × 0.2 mm)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66 g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132 g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Elastic stretch at full tension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0.2 mm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0.8 mm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Thermal length change (±100 K)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0.15 to 0.5 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0.3 to 1.0 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Tether frontal area (drag)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0.30 m²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0.60 m²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Orbit life at 550 km, deployed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≈ 1.2 years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≈ 0.6 years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able note"/>
          <p:cNvSpPr txBox="1"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Two 4 kg halves, three 0.2 mm tethers, 550 km. Orbit life uses a simple drag model with mean solar activity; the formal analysis is still to 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 · TETHER RANGE AND ORIENTATION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Slow deployment keeps the tether vertical</a:t>
            </a:r>
            <a:endParaRPr lang="en-US" sz="3200" dirty="0"/>
          </a:p>
        </p:txBody>
      </p:sp>
      <p:pic>
        <p:nvPicPr>
          <p:cNvPr id="4" name="Deployment profile chart" descr="Deployment profile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040880" cy="3959352"/>
          </a:xfrm>
          <a:prstGeom prst="rect">
            <a:avLst/>
          </a:prstGeom>
        </p:spPr>
      </p:pic>
      <p:sp>
        <p:nvSpPr>
          <p:cNvPr id="5" name="deploy time value"/>
          <p:cNvSpPr txBox="1"/>
          <p:nvPr/>
        </p:nvSpPr>
        <p:spPr>
          <a:xfrm>
            <a:off x="8046720" y="1691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3.2–3.5 h</a:t>
            </a:r>
            <a:endParaRPr lang="en-US" sz="3600" dirty="0"/>
          </a:p>
        </p:txBody>
      </p:sp>
      <p:sp>
        <p:nvSpPr>
          <p:cNvPr id="6" name="deploy time label"/>
          <p:cNvSpPr txBox="1"/>
          <p:nvPr/>
        </p:nvSpPr>
        <p:spPr>
          <a:xfrm>
            <a:off x="8046720" y="23774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controlled deployment to 500 m or 1 km</a:t>
            </a:r>
            <a:endParaRPr lang="en-US" sz="1500" dirty="0"/>
          </a:p>
        </p:txBody>
      </p:sp>
      <p:sp>
        <p:nvSpPr>
          <p:cNvPr id="7" name="libration value"/>
          <p:cNvSpPr txBox="1"/>
          <p:nvPr/>
        </p:nvSpPr>
        <p:spPr>
          <a:xfrm>
            <a:off x="8046720" y="3154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30°</a:t>
            </a:r>
            <a:endParaRPr lang="en-US" sz="3600" dirty="0"/>
          </a:p>
        </p:txBody>
      </p:sp>
      <p:sp>
        <p:nvSpPr>
          <p:cNvPr id="8" name="libration label"/>
          <p:cNvSpPr txBox="1"/>
          <p:nvPr/>
        </p:nvSpPr>
        <p:spPr>
          <a:xfrm>
            <a:off x="8046720" y="38404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libration during a controlled deployment</a:t>
            </a:r>
            <a:endParaRPr lang="en-US" sz="1500" dirty="0"/>
          </a:p>
        </p:txBody>
      </p:sp>
      <p:sp>
        <p:nvSpPr>
          <p:cNvPr id="9" name="free speed value"/>
          <p:cNvSpPr txBox="1"/>
          <p:nvPr/>
        </p:nvSpPr>
        <p:spPr>
          <a:xfrm>
            <a:off x="8046720" y="46177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 m/s</a:t>
            </a:r>
            <a:endParaRPr lang="en-US" sz="3600" dirty="0"/>
          </a:p>
        </p:txBody>
      </p:sp>
      <p:sp>
        <p:nvSpPr>
          <p:cNvPr id="10" name="free speed label"/>
          <p:cNvSpPr txBox="1"/>
          <p:nvPr/>
        </p:nvSpPr>
        <p:spPr>
          <a:xfrm>
            <a:off x="8046720" y="53035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end speed of a free 1 km deployment: the tether tumbles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 · TETHER RANGE AND ORIENTATION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diagonal tether cannot be held</a:t>
            </a:r>
            <a:endParaRPr lang="en-US" sz="3200" dirty="0"/>
          </a:p>
        </p:txBody>
      </p:sp>
      <p:sp>
        <p:nvSpPr>
          <p:cNvPr id="4" name="Diagonal points"/>
          <p:cNvSpPr txBox="1"/>
          <p:nvPr/>
        </p:nvSpPr>
        <p:spPr>
          <a:xfrm>
            <a:off x="548640" y="1783080"/>
            <a:ext cx="4480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Gravity always pulls the pair back to vertical; a tilt becomes a 55-minute swing.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Holding 30° at 1 km would need 3.1 N·m, about 3,000 times a reaction wheel.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tilted tether also carries less tension: cos² of the angle.</a:t>
            </a:r>
            <a:endParaRPr lang="en-US" sz="1600" dirty="0"/>
          </a:p>
        </p:txBody>
      </p:sp>
      <p:pic>
        <p:nvPicPr>
          <p:cNvPr id="5" name="Torque needed to hold a tilt" descr="Torque needed to hold a ti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645920"/>
            <a:ext cx="6400800" cy="3621024"/>
          </a:xfrm>
          <a:prstGeom prst="rect">
            <a:avLst/>
          </a:prstGeom>
        </p:spPr>
      </p:pic>
      <p:sp>
        <p:nvSpPr>
          <p:cNvPr id="6" name="diagonal takeaway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Diagonal is a swing, not a configuration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 · TETHER RANGE AND ORIENTATION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Once deployed, the length stays fixed</a:t>
            </a:r>
            <a:endParaRPr lang="en-US" sz="3200" dirty="0"/>
          </a:p>
        </p:txBody>
      </p:sp>
      <p:sp>
        <p:nvSpPr>
          <p:cNvPr id="4" name="separation lead"/>
          <p:cNvSpPr txBox="1"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winch sets the length. More tension does not lengthen the tether; it only pulls it tighter.</a:t>
            </a:r>
            <a:endParaRPr lang="en-US" sz="1800" dirty="0"/>
          </a:p>
        </p:txBody>
      </p:sp>
      <p:sp>
        <p:nvSpPr>
          <p:cNvPr id="5" name="fact card 0"/>
          <p:cNvSpPr/>
          <p:nvPr/>
        </p:nvSpPr>
        <p:spPr>
          <a:xfrm>
            <a:off x="548640" y="242316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fact 0 circle"/>
          <p:cNvSpPr/>
          <p:nvPr/>
        </p:nvSpPr>
        <p:spPr>
          <a:xfrm>
            <a:off x="822960" y="2697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fact 0 icon" descr="fact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848356"/>
            <a:ext cx="384048" cy="384048"/>
          </a:xfrm>
          <a:prstGeom prst="rect">
            <a:avLst/>
          </a:prstGeom>
        </p:spPr>
      </p:pic>
      <p:sp>
        <p:nvSpPr>
          <p:cNvPr id="8" name="fact value 0"/>
          <p:cNvSpPr txBox="1"/>
          <p:nvPr/>
        </p:nvSpPr>
        <p:spPr>
          <a:xfrm>
            <a:off x="822960" y="3611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mm</a:t>
            </a:r>
            <a:endParaRPr lang="en-US" sz="3600" dirty="0"/>
          </a:p>
        </p:txBody>
      </p:sp>
      <p:sp>
        <p:nvSpPr>
          <p:cNvPr id="9" name="fact label 0"/>
          <p:cNvSpPr txBox="1"/>
          <p:nvPr/>
        </p:nvSpPr>
        <p:spPr>
          <a:xfrm>
            <a:off x="822960" y="4389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elastic stretch at full tension, even at 1 km</a:t>
            </a:r>
            <a:endParaRPr lang="en-US" sz="1500" dirty="0"/>
          </a:p>
        </p:txBody>
      </p:sp>
      <p:sp>
        <p:nvSpPr>
          <p:cNvPr id="10" name="fact card 1"/>
          <p:cNvSpPr/>
          <p:nvPr/>
        </p:nvSpPr>
        <p:spPr>
          <a:xfrm>
            <a:off x="4325112" y="242316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fact 1 circle"/>
          <p:cNvSpPr/>
          <p:nvPr/>
        </p:nvSpPr>
        <p:spPr>
          <a:xfrm>
            <a:off x="4599432" y="26974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fact 1 icon" descr="fact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308" y="2848356"/>
            <a:ext cx="384048" cy="384048"/>
          </a:xfrm>
          <a:prstGeom prst="rect">
            <a:avLst/>
          </a:prstGeom>
        </p:spPr>
      </p:pic>
      <p:sp>
        <p:nvSpPr>
          <p:cNvPr id="13" name="fact value 1"/>
          <p:cNvSpPr txBox="1"/>
          <p:nvPr/>
        </p:nvSpPr>
        <p:spPr>
          <a:xfrm>
            <a:off x="4599432" y="3611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1 m</a:t>
            </a:r>
            <a:endParaRPr lang="en-US" sz="3600" dirty="0"/>
          </a:p>
        </p:txBody>
      </p:sp>
      <p:sp>
        <p:nvSpPr>
          <p:cNvPr id="14" name="fact label 1"/>
          <p:cNvSpPr txBox="1"/>
          <p:nvPr/>
        </p:nvSpPr>
        <p:spPr>
          <a:xfrm>
            <a:off x="4599432" y="4389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length change between sun and shadow: the winch must compensate</a:t>
            </a:r>
            <a:endParaRPr lang="en-US" sz="1500" dirty="0"/>
          </a:p>
        </p:txBody>
      </p:sp>
      <p:sp>
        <p:nvSpPr>
          <p:cNvPr id="15" name="fact card 2"/>
          <p:cNvSpPr/>
          <p:nvPr/>
        </p:nvSpPr>
        <p:spPr>
          <a:xfrm>
            <a:off x="8101584" y="242316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fact 2 circle"/>
          <p:cNvSpPr/>
          <p:nvPr/>
        </p:nvSpPr>
        <p:spPr>
          <a:xfrm>
            <a:off x="8375904" y="269748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fact 2 icon" descr="fact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2848356"/>
            <a:ext cx="384048" cy="384048"/>
          </a:xfrm>
          <a:prstGeom prst="rect">
            <a:avLst/>
          </a:prstGeom>
        </p:spPr>
      </p:pic>
      <p:sp>
        <p:nvSpPr>
          <p:cNvPr id="18" name="fact value 2"/>
          <p:cNvSpPr txBox="1"/>
          <p:nvPr/>
        </p:nvSpPr>
        <p:spPr>
          <a:xfrm>
            <a:off x="8375904" y="3611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 min</a:t>
            </a:r>
            <a:endParaRPr lang="en-US" sz="3600" dirty="0"/>
          </a:p>
        </p:txBody>
      </p:sp>
      <p:sp>
        <p:nvSpPr>
          <p:cNvPr id="19" name="fact label 2"/>
          <p:cNvSpPr txBox="1"/>
          <p:nvPr/>
        </p:nvSpPr>
        <p:spPr>
          <a:xfrm>
            <a:off x="8375904" y="4389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period of the natural swing around vertical</a:t>
            </a:r>
            <a:endParaRPr lang="en-US" sz="1500" dirty="0"/>
          </a:p>
        </p:txBody>
      </p:sp>
      <p:sp>
        <p:nvSpPr>
          <p:cNvPr id="20" name="separation note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Paying out faster only adds swing and braking load; it does not give a longer or tighter tether.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 · RELATIVE ATTITUDE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IMUs alone lose the zero within minutes</a:t>
            </a:r>
            <a:endParaRPr lang="en-US" sz="3200" dirty="0"/>
          </a:p>
        </p:txBody>
      </p:sp>
      <p:pic>
        <p:nvPicPr>
          <p:cNvPr id="4" name="Gyro drift chart" descr="Gyro drift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949440" cy="4005072"/>
          </a:xfrm>
          <a:prstGeom prst="rect">
            <a:avLst/>
          </a:prstGeom>
        </p:spPr>
      </p:pic>
      <p:sp>
        <p:nvSpPr>
          <p:cNvPr id="5" name="IMU points"/>
          <p:cNvSpPr txBox="1"/>
          <p:nvPr/>
        </p:nvSpPr>
        <p:spPr>
          <a:xfrm>
            <a:off x="7863840" y="1783080"/>
            <a:ext cx="3749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Gyros measure rotation rate, so small errors add up over time.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good 1°/h MEMS gyro is off by 1.6° after one orbit.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Accelerometers cannot sense attitude in free fall.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Mapping images needs 0.01 to 0.05°: only an absolute sensor holds that.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 · RELATIVE ATTITUDE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Recommended sensors for relative attitude</a:t>
            </a:r>
            <a:endParaRPr lang="en-US" sz="3200" dirty="0"/>
          </a:p>
        </p:txBody>
      </p:sp>
      <p:sp>
        <p:nvSpPr>
          <p:cNvPr id="4" name="Star tracker on each half circle"/>
          <p:cNvSpPr/>
          <p:nvPr/>
        </p:nvSpPr>
        <p:spPr>
          <a:xfrm>
            <a:off x="548640" y="169164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tar tracker on each half icon" descr="Star tracker on each hal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81" y="1836481"/>
            <a:ext cx="368686" cy="368686"/>
          </a:xfrm>
          <a:prstGeom prst="rect">
            <a:avLst/>
          </a:prstGeom>
        </p:spPr>
      </p:pic>
      <p:sp>
        <p:nvSpPr>
          <p:cNvPr id="6" name="Star tracker on each half header"/>
          <p:cNvSpPr txBox="1"/>
          <p:nvPr/>
        </p:nvSpPr>
        <p:spPr>
          <a:xfrm>
            <a:off x="1463040" y="167335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Star tracker on each half</a:t>
            </a:r>
            <a:endParaRPr lang="en-US" sz="1800" dirty="0"/>
          </a:p>
        </p:txBody>
      </p:sp>
      <p:sp>
        <p:nvSpPr>
          <p:cNvPr id="7" name="Star tracker on each half text"/>
          <p:cNvSpPr txBox="1"/>
          <p:nvPr/>
        </p:nvSpPr>
        <p:spPr>
          <a:xfrm>
            <a:off x="1463040" y="203911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Absolute attitude of each half to about 0.005°, at any time.</a:t>
            </a:r>
            <a:endParaRPr lang="en-US" sz="1500" dirty="0"/>
          </a:p>
        </p:txBody>
      </p:sp>
      <p:sp>
        <p:nvSpPr>
          <p:cNvPr id="8" name="GNSS receiver on each half circle"/>
          <p:cNvSpPr/>
          <p:nvPr/>
        </p:nvSpPr>
        <p:spPr>
          <a:xfrm>
            <a:off x="548640" y="2624328"/>
            <a:ext cx="658368" cy="6583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9" name="GNSS receiver on each half icon" descr="GNSS receiver on each hal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81" y="2769169"/>
            <a:ext cx="368686" cy="368686"/>
          </a:xfrm>
          <a:prstGeom prst="rect">
            <a:avLst/>
          </a:prstGeom>
        </p:spPr>
      </p:pic>
      <p:sp>
        <p:nvSpPr>
          <p:cNvPr id="10" name="GNSS receiver on each half header"/>
          <p:cNvSpPr txBox="1"/>
          <p:nvPr/>
        </p:nvSpPr>
        <p:spPr>
          <a:xfrm>
            <a:off x="1463040" y="26060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GNSS receiver on each half</a:t>
            </a:r>
            <a:endParaRPr lang="en-US" sz="1800" dirty="0"/>
          </a:p>
        </p:txBody>
      </p:sp>
      <p:sp>
        <p:nvSpPr>
          <p:cNvPr id="11" name="GNSS receiver on each half text"/>
          <p:cNvSpPr txBox="1"/>
          <p:nvPr/>
        </p:nvSpPr>
        <p:spPr>
          <a:xfrm>
            <a:off x="1463040" y="29718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Relative position at centimetre level: tether direction to about 0.001° at 1 km.</a:t>
            </a:r>
            <a:endParaRPr lang="en-US" sz="1500" dirty="0"/>
          </a:p>
        </p:txBody>
      </p:sp>
      <p:sp>
        <p:nvSpPr>
          <p:cNvPr id="12" name="Tether direction encoders circle"/>
          <p:cNvSpPr/>
          <p:nvPr/>
        </p:nvSpPr>
        <p:spPr>
          <a:xfrm>
            <a:off x="548640" y="3557016"/>
            <a:ext cx="658368" cy="6583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Tether direction encoders icon" descr="Tether direction encod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1" y="3701857"/>
            <a:ext cx="368686" cy="368686"/>
          </a:xfrm>
          <a:prstGeom prst="rect">
            <a:avLst/>
          </a:prstGeom>
        </p:spPr>
      </p:pic>
      <p:sp>
        <p:nvSpPr>
          <p:cNvPr id="14" name="Tether direction encoders header"/>
          <p:cNvSpPr txBox="1"/>
          <p:nvPr/>
        </p:nvSpPr>
        <p:spPr>
          <a:xfrm>
            <a:off x="1463040" y="353872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Tether direction encoders</a:t>
            </a:r>
            <a:endParaRPr lang="en-US" sz="1800" dirty="0"/>
          </a:p>
        </p:txBody>
      </p:sp>
      <p:sp>
        <p:nvSpPr>
          <p:cNvPr id="15" name="Tether direction encoders text"/>
          <p:cNvSpPr txBox="1"/>
          <p:nvPr/>
        </p:nvSpPr>
        <p:spPr>
          <a:xfrm>
            <a:off x="1463040" y="390448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Angle of the tether at each anchor, measured directly.</a:t>
            </a:r>
            <a:endParaRPr lang="en-US" sz="1500" dirty="0"/>
          </a:p>
        </p:txBody>
      </p:sp>
      <p:sp>
        <p:nvSpPr>
          <p:cNvPr id="16" name="IMU circle"/>
          <p:cNvSpPr/>
          <p:nvPr/>
        </p:nvSpPr>
        <p:spPr>
          <a:xfrm>
            <a:off x="548640" y="4489704"/>
            <a:ext cx="658368" cy="65836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7" name="IMU icon" descr="IMU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81" y="4634545"/>
            <a:ext cx="368686" cy="368686"/>
          </a:xfrm>
          <a:prstGeom prst="rect">
            <a:avLst/>
          </a:prstGeom>
        </p:spPr>
      </p:pic>
      <p:sp>
        <p:nvSpPr>
          <p:cNvPr id="18" name="IMU header"/>
          <p:cNvSpPr txBox="1"/>
          <p:nvPr/>
        </p:nvSpPr>
        <p:spPr>
          <a:xfrm>
            <a:off x="1463040" y="447141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IMU</a:t>
            </a:r>
            <a:endParaRPr lang="en-US" sz="1800" dirty="0"/>
          </a:p>
        </p:txBody>
      </p:sp>
      <p:sp>
        <p:nvSpPr>
          <p:cNvPr id="19" name="IMU text"/>
          <p:cNvSpPr txBox="1"/>
          <p:nvPr/>
        </p:nvSpPr>
        <p:spPr>
          <a:xfrm>
            <a:off x="1463040" y="483717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Fast rates between updates and during manoeuvres.</a:t>
            </a:r>
            <a:endParaRPr lang="en-US" sz="1500" dirty="0"/>
          </a:p>
        </p:txBody>
      </p:sp>
      <p:sp>
        <p:nvSpPr>
          <p:cNvPr id="20" name="stowed zero box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towed zero text"/>
          <p:cNvSpPr txBox="1"/>
          <p:nvPr/>
        </p:nvSpPr>
        <p:spPr>
          <a:xfrm>
            <a:off x="777240" y="553212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Stowed zero: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 the joined state to calibrate the mounting offset between both halves, not as the reference for the whole mission.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 · STATE OF THE ART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Tether heritage: deployment is the main risk</a:t>
            </a:r>
            <a:endParaRPr lang="en-US" sz="3200" dirty="0"/>
          </a:p>
        </p:txBody>
      </p:sp>
      <p:graphicFrame>
        <p:nvGraphicFramePr>
          <p:cNvPr id="11" name="miss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2011680"/>
                <a:gridCol w="59436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Mission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Year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Length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What happened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Gemini XI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1966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30 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First tether test between two spacecraft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SEDS-1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1993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 km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Full deployment; end mass deorbited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SEDS-2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1994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19.7 km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Closed-loop braking law validated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TSS-1R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1996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19.7 km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Tether broke by an electrical arc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TiPS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1996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 km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Libration damped from 40° to 7.5°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ATEx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1999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22 m of 6.2 km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Tether went slack after a thermal transient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YES2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2007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31.7 km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Longest structure deployed in orbit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TEPCE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2019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 km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Two CubeSat halves split by a stacer spring at 4 m/s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 · STATE OF THE ART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Previous tethered systems</a:t>
            </a:r>
            <a:endParaRPr lang="en-US" sz="3200" dirty="0"/>
          </a:p>
        </p:txBody>
      </p:sp>
      <p:pic>
        <p:nvPicPr>
          <p:cNvPr id="4" name="prior work 1" descr="Two CubeSats joined by a teth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0230" y="1600200"/>
            <a:ext cx="2811780" cy="1874520"/>
          </a:xfrm>
          <a:prstGeom prst="rect">
            <a:avLst/>
          </a:prstGeom>
        </p:spPr>
      </p:pic>
      <p:sp>
        <p:nvSpPr>
          <p:cNvPr id="5" name="prior work caption 1"/>
          <p:cNvSpPr txBox="1"/>
          <p:nvPr/>
        </p:nvSpPr>
        <p:spPr>
          <a:xfrm>
            <a:off x="548640" y="3520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Two CubeSats joined by a tether</a:t>
            </a:r>
            <a:endParaRPr lang="en-US" sz="1200" dirty="0"/>
          </a:p>
        </p:txBody>
      </p:sp>
      <p:pic>
        <p:nvPicPr>
          <p:cNvPr id="6" name="prior work 2" descr="Two end bodies joined by a tether with a three-line brid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197" y="1600200"/>
            <a:ext cx="2849270" cy="1874520"/>
          </a:xfrm>
          <a:prstGeom prst="rect">
            <a:avLst/>
          </a:prstGeom>
        </p:spPr>
      </p:pic>
      <p:sp>
        <p:nvSpPr>
          <p:cNvPr id="7" name="prior work caption 2"/>
          <p:cNvSpPr txBox="1"/>
          <p:nvPr/>
        </p:nvSpPr>
        <p:spPr>
          <a:xfrm>
            <a:off x="6245352" y="3520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Two end bodies joined by a tether with a three-line bridle</a:t>
            </a:r>
            <a:endParaRPr lang="en-US" sz="1200" dirty="0"/>
          </a:p>
        </p:txBody>
      </p:sp>
      <p:pic>
        <p:nvPicPr>
          <p:cNvPr id="8" name="prior work 3" descr="Tether between a spacecraft and a target bod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406" y="3977640"/>
            <a:ext cx="3979428" cy="1874520"/>
          </a:xfrm>
          <a:prstGeom prst="rect">
            <a:avLst/>
          </a:prstGeom>
        </p:spPr>
      </p:pic>
      <p:sp>
        <p:nvSpPr>
          <p:cNvPr id="9" name="prior work caption 3"/>
          <p:cNvSpPr txBox="1"/>
          <p:nvPr/>
        </p:nvSpPr>
        <p:spPr>
          <a:xfrm>
            <a:off x="548640" y="5897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Tether between a spacecraft and a target body</a:t>
            </a:r>
            <a:endParaRPr lang="en-US" sz="1200" dirty="0"/>
          </a:p>
        </p:txBody>
      </p:sp>
      <p:pic>
        <p:nvPicPr>
          <p:cNvPr id="10" name="prior work 4" descr="Momentum-exchange tether: catch and toss of a paylo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788" y="3977640"/>
            <a:ext cx="4728089" cy="1874520"/>
          </a:xfrm>
          <a:prstGeom prst="rect">
            <a:avLst/>
          </a:prstGeom>
        </p:spPr>
      </p:pic>
      <p:sp>
        <p:nvSpPr>
          <p:cNvPr id="11" name="prior work caption 4"/>
          <p:cNvSpPr txBox="1"/>
          <p:nvPr/>
        </p:nvSpPr>
        <p:spPr>
          <a:xfrm>
            <a:off x="6245352" y="5897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Momentum-exchange tether: catch and toss of a payload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 · STATE OF THE ART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our proposal fits</a:t>
            </a:r>
            <a:endParaRPr lang="en-US" sz="3200" dirty="0"/>
          </a:p>
        </p:txBody>
      </p:sp>
      <p:sp>
        <p:nvSpPr>
          <p:cNvPr id="4" name="done card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one header"/>
          <p:cNvSpPr txBox="1"/>
          <p:nvPr/>
        </p:nvSpPr>
        <p:spPr>
          <a:xfrm>
            <a:off x="86868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Already demonstrated</a:t>
            </a:r>
            <a:endParaRPr lang="en-US" sz="2000" dirty="0"/>
          </a:p>
        </p:txBody>
      </p:sp>
      <p:pic>
        <p:nvPicPr>
          <p:cNvPr id="6" name="done mark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60320"/>
            <a:ext cx="292608" cy="292608"/>
          </a:xfrm>
          <a:prstGeom prst="rect">
            <a:avLst/>
          </a:prstGeom>
        </p:spPr>
      </p:pic>
      <p:sp>
        <p:nvSpPr>
          <p:cNvPr id="7" name="done item 0"/>
          <p:cNvSpPr txBox="1"/>
          <p:nvPr/>
        </p:nvSpPr>
        <p:spPr>
          <a:xfrm>
            <a:off x="1325880" y="25146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Splitting a CubeSat in two with a spring (TEPCE, 2019)</a:t>
            </a:r>
            <a:endParaRPr lang="en-US" sz="1500" dirty="0"/>
          </a:p>
        </p:txBody>
      </p:sp>
      <p:pic>
        <p:nvPicPr>
          <p:cNvPr id="8" name="done mark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429000"/>
            <a:ext cx="292608" cy="292608"/>
          </a:xfrm>
          <a:prstGeom prst="rect">
            <a:avLst/>
          </a:prstGeom>
        </p:spPr>
      </p:pic>
      <p:sp>
        <p:nvSpPr>
          <p:cNvPr id="9" name="done item 1"/>
          <p:cNvSpPr txBox="1"/>
          <p:nvPr/>
        </p:nvSpPr>
        <p:spPr>
          <a:xfrm>
            <a:off x="1325880" y="338328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Kilometre-class deployment with braking (SEDS-2, TiPS)</a:t>
            </a:r>
            <a:endParaRPr lang="en-US" sz="1500" dirty="0"/>
          </a:p>
        </p:txBody>
      </p:sp>
      <p:pic>
        <p:nvPicPr>
          <p:cNvPr id="10" name="done mark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97680"/>
            <a:ext cx="292608" cy="292608"/>
          </a:xfrm>
          <a:prstGeom prst="rect">
            <a:avLst/>
          </a:prstGeom>
        </p:spPr>
      </p:pic>
      <p:sp>
        <p:nvSpPr>
          <p:cNvPr id="11" name="done item 2"/>
          <p:cNvSpPr txBox="1"/>
          <p:nvPr/>
        </p:nvSpPr>
        <p:spPr>
          <a:xfrm>
            <a:off x="1325880" y="42519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Gravity-gradient stabilisation along the vertical</a:t>
            </a:r>
            <a:endParaRPr lang="en-US" sz="1500" dirty="0"/>
          </a:p>
        </p:txBody>
      </p:sp>
      <p:pic>
        <p:nvPicPr>
          <p:cNvPr id="12" name="done mark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66360"/>
            <a:ext cx="292608" cy="292608"/>
          </a:xfrm>
          <a:prstGeom prst="rect">
            <a:avLst/>
          </a:prstGeom>
        </p:spPr>
      </p:pic>
      <p:sp>
        <p:nvSpPr>
          <p:cNvPr id="13" name="done item 3"/>
          <p:cNvSpPr txBox="1"/>
          <p:nvPr/>
        </p:nvSpPr>
        <p:spPr>
          <a:xfrm>
            <a:off x="1325880" y="51206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Libration damping with the winch</a:t>
            </a:r>
            <a:endParaRPr lang="en-US" sz="1500" dirty="0"/>
          </a:p>
        </p:txBody>
      </p:sp>
      <p:sp>
        <p:nvSpPr>
          <p:cNvPr id="14" name="new card"/>
          <p:cNvSpPr/>
          <p:nvPr/>
        </p:nvSpPr>
        <p:spPr>
          <a:xfrm>
            <a:off x="6245352" y="164592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ew header"/>
          <p:cNvSpPr txBox="1"/>
          <p:nvPr/>
        </p:nvSpPr>
        <p:spPr>
          <a:xfrm>
            <a:off x="6565392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New in this proposal</a:t>
            </a:r>
            <a:endParaRPr lang="en-US" sz="2000" dirty="0"/>
          </a:p>
        </p:txBody>
      </p:sp>
      <p:pic>
        <p:nvPicPr>
          <p:cNvPr id="16" name="new mark 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2560320"/>
            <a:ext cx="292608" cy="292608"/>
          </a:xfrm>
          <a:prstGeom prst="rect">
            <a:avLst/>
          </a:prstGeom>
        </p:spPr>
      </p:pic>
      <p:sp>
        <p:nvSpPr>
          <p:cNvPr id="17" name="new item 0"/>
          <p:cNvSpPr txBox="1"/>
          <p:nvPr/>
        </p:nvSpPr>
        <p:spPr>
          <a:xfrm>
            <a:off x="7022592" y="25146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Three tethers between the same two bodies</a:t>
            </a:r>
            <a:endParaRPr lang="en-US" sz="1500" dirty="0"/>
          </a:p>
        </p:txBody>
      </p:sp>
      <p:pic>
        <p:nvPicPr>
          <p:cNvPr id="18" name="new mark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3429000"/>
            <a:ext cx="292608" cy="292608"/>
          </a:xfrm>
          <a:prstGeom prst="rect">
            <a:avLst/>
          </a:prstGeom>
        </p:spPr>
      </p:pic>
      <p:sp>
        <p:nvSpPr>
          <p:cNvPr id="19" name="new item 1"/>
          <p:cNvSpPr txBox="1"/>
          <p:nvPr/>
        </p:nvSpPr>
        <p:spPr>
          <a:xfrm>
            <a:off x="7022592" y="338328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Active thermal compensation of length (the ATEx failure)</a:t>
            </a:r>
            <a:endParaRPr lang="en-US" sz="1500" dirty="0"/>
          </a:p>
        </p:txBody>
      </p:sp>
      <p:pic>
        <p:nvPicPr>
          <p:cNvPr id="20" name="new mark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5392" y="4297680"/>
            <a:ext cx="292608" cy="292608"/>
          </a:xfrm>
          <a:prstGeom prst="rect">
            <a:avLst/>
          </a:prstGeom>
        </p:spPr>
      </p:pic>
      <p:sp>
        <p:nvSpPr>
          <p:cNvPr id="21" name="new item 2"/>
          <p:cNvSpPr txBox="1"/>
          <p:nvPr/>
        </p:nvSpPr>
        <p:spPr>
          <a:xfrm>
            <a:off x="7022592" y="42519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Tether direction measured at the anchors</a:t>
            </a:r>
            <a:endParaRPr lang="en-US" sz="1500" dirty="0"/>
          </a:p>
        </p:txBody>
      </p:sp>
      <p:pic>
        <p:nvPicPr>
          <p:cNvPr id="22" name="new mark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5392" y="5166360"/>
            <a:ext cx="292608" cy="292608"/>
          </a:xfrm>
          <a:prstGeom prst="rect">
            <a:avLst/>
          </a:prstGeom>
        </p:spPr>
      </p:pic>
      <p:sp>
        <p:nvSpPr>
          <p:cNvPr id="23" name="new item 3"/>
          <p:cNvSpPr txBox="1"/>
          <p:nvPr/>
        </p:nvSpPr>
        <p:spPr>
          <a:xfrm>
            <a:off x="7022592" y="51206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Earth imaging from both halves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4 · 3D IMAGING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3D needs two very different viewing angles</a:t>
            </a:r>
            <a:endParaRPr lang="en-US" sz="3200" dirty="0"/>
          </a:p>
        </p:txBody>
      </p:sp>
      <p:pic>
        <p:nvPicPr>
          <p:cNvPr id="4" name="Parallax geometry" descr="Parallax geomet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600200"/>
            <a:ext cx="8686800" cy="45902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4 · 3D IMAGING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0.5–1 km baseline gives errors near 1 km</a:t>
            </a:r>
            <a:endParaRPr lang="en-US" sz="3200" dirty="0"/>
          </a:p>
        </p:txBody>
      </p:sp>
      <p:pic>
        <p:nvPicPr>
          <p:cNvPr id="4" name="Height error versus baseline" descr="Height error versus bas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949440" cy="3959352"/>
          </a:xfrm>
          <a:prstGeom prst="rect">
            <a:avLst/>
          </a:prstGeom>
        </p:spPr>
      </p:pic>
      <p:sp>
        <p:nvSpPr>
          <p:cNvPr id="5" name="error 1 km value"/>
          <p:cNvSpPr txBox="1"/>
          <p:nvPr/>
        </p:nvSpPr>
        <p:spPr>
          <a:xfrm>
            <a:off x="7863840" y="1691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825 m</a:t>
            </a:r>
            <a:endParaRPr lang="en-US" sz="3600" dirty="0"/>
          </a:p>
        </p:txBody>
      </p:sp>
      <p:sp>
        <p:nvSpPr>
          <p:cNvPr id="6" name="error 1 km label"/>
          <p:cNvSpPr txBox="1"/>
          <p:nvPr/>
        </p:nvSpPr>
        <p:spPr>
          <a:xfrm>
            <a:off x="7863840" y="23774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height error with a 1 km baseline, 5 m pixels</a:t>
            </a:r>
            <a:endParaRPr lang="en-US" sz="1500" dirty="0"/>
          </a:p>
        </p:txBody>
      </p:sp>
      <p:sp>
        <p:nvSpPr>
          <p:cNvPr id="7" name="error 500 m value"/>
          <p:cNvSpPr txBox="1"/>
          <p:nvPr/>
        </p:nvSpPr>
        <p:spPr>
          <a:xfrm>
            <a:off x="7863840" y="31546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1.65 km</a:t>
            </a:r>
            <a:endParaRPr lang="en-US" sz="3600" dirty="0"/>
          </a:p>
        </p:txBody>
      </p:sp>
      <p:sp>
        <p:nvSpPr>
          <p:cNvPr id="8" name="error 500 m label"/>
          <p:cNvSpPr txBox="1"/>
          <p:nvPr/>
        </p:nvSpPr>
        <p:spPr>
          <a:xfrm>
            <a:off x="7863840" y="38404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height error with a 500 m baseline</a:t>
            </a:r>
            <a:endParaRPr lang="en-US" sz="1500" dirty="0"/>
          </a:p>
        </p:txBody>
      </p:sp>
      <p:sp>
        <p:nvSpPr>
          <p:cNvPr id="9" name="parallax value"/>
          <p:cNvSpPr txBox="1"/>
          <p:nvPr/>
        </p:nvSpPr>
        <p:spPr>
          <a:xfrm>
            <a:off x="7863840" y="46177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0.36 px</a:t>
            </a:r>
            <a:endParaRPr lang="en-US" sz="3600" dirty="0"/>
          </a:p>
        </p:txBody>
      </p:sp>
      <p:sp>
        <p:nvSpPr>
          <p:cNvPr id="10" name="parallax label"/>
          <p:cNvSpPr txBox="1"/>
          <p:nvPr/>
        </p:nvSpPr>
        <p:spPr>
          <a:xfrm>
            <a:off x="7863840" y="53035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shift of a 1 km-high mountain between the two photos</a:t>
            </a:r>
            <a:endParaRPr lang="en-US" sz="1500" dirty="0"/>
          </a:p>
        </p:txBody>
      </p:sp>
      <p:sp>
        <p:nvSpPr>
          <p:cNvPr id="11" name="vertical note"/>
          <p:cNvSpPr txBox="1"/>
          <p:nvPr/>
        </p:nvSpPr>
        <p:spPr>
          <a:xfrm>
            <a:off x="548640" y="57607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And a vertical tether gives no stereo at all: both cameras look along the same line.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4 · 3D IMAGING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works: pointing the cameras</a:t>
            </a:r>
            <a:endParaRPr lang="en-US" sz="3200" dirty="0"/>
          </a:p>
        </p:txBody>
      </p:sp>
      <p:graphicFrame>
        <p:nvGraphicFramePr>
          <p:cNvPr id="16" name="imaging op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70408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1737360"/>
                <a:gridCol w="210312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B/H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Height error 5 m / 20 m px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Notes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Fixed fore/aft cameras (A +12°, B −12°)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3.5 m / 14 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Simple; sites under the track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Gimbal ±30° on each half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3.8 m / 15 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Chosen sites; 2 to 4 day revisit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Tether baseline, 1 km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0.0018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825 m / 3.3 km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Not usable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5" name="3D simulator screenshot" descr="3D simulator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645920"/>
            <a:ext cx="3749040" cy="2542032"/>
          </a:xfrm>
          <a:prstGeom prst="rect">
            <a:avLst/>
          </a:prstGeom>
        </p:spPr>
      </p:pic>
      <p:sp>
        <p:nvSpPr>
          <p:cNvPr id="6" name="simulator caption"/>
          <p:cNvSpPr txBox="1"/>
          <p:nvPr/>
        </p:nvSpPr>
        <p:spPr>
          <a:xfrm>
            <a:off x="7863840" y="4251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Simulator: both halves image the same hill 31 s apart</a:t>
            </a:r>
            <a:endParaRPr lang="en-US" sz="1200" dirty="0"/>
          </a:p>
        </p:txBody>
      </p:sp>
      <p:sp>
        <p:nvSpPr>
          <p:cNvPr id="7" name="imaging takeaway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The 3D comes from the satellite moving along its orbit, not from the tether.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 · RISKS AND NEXT STEPS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Going to 1 km adds new risks</a:t>
            </a:r>
            <a:endParaRPr lang="en-US" sz="3200" dirty="0"/>
          </a:p>
        </p:txBody>
      </p:sp>
      <p:sp>
        <p:nvSpPr>
          <p:cNvPr id="4" name="risk card Drag"/>
          <p:cNvSpPr/>
          <p:nvPr/>
        </p:nvSpPr>
        <p:spPr>
          <a:xfrm>
            <a:off x="548640" y="169164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rag circle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Drag icon" descr="Dra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116836"/>
            <a:ext cx="384048" cy="384048"/>
          </a:xfrm>
          <a:prstGeom prst="rect">
            <a:avLst/>
          </a:prstGeom>
        </p:spPr>
      </p:pic>
      <p:sp>
        <p:nvSpPr>
          <p:cNvPr id="7" name="Drag header"/>
          <p:cNvSpPr txBox="1"/>
          <p:nvPr/>
        </p:nvSpPr>
        <p:spPr>
          <a:xfrm>
            <a:off x="82296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Drag</a:t>
            </a:r>
            <a:endParaRPr lang="en-US" sz="2000" dirty="0"/>
          </a:p>
        </p:txBody>
      </p:sp>
      <p:sp>
        <p:nvSpPr>
          <p:cNvPr id="8" name="Drag text"/>
          <p:cNvSpPr txBox="1"/>
          <p:nvPr/>
        </p:nvSpPr>
        <p:spPr>
          <a:xfrm>
            <a:off x="822960" y="333756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Tethers add 0.6 m² of drag area. Orbit life at 550 km falls to about 0.6 years.</a:t>
            </a:r>
            <a:endParaRPr lang="en-US" sz="1500" dirty="0"/>
          </a:p>
        </p:txBody>
      </p:sp>
      <p:sp>
        <p:nvSpPr>
          <p:cNvPr id="9" name="risk card Thermal"/>
          <p:cNvSpPr/>
          <p:nvPr/>
        </p:nvSpPr>
        <p:spPr>
          <a:xfrm>
            <a:off x="3364992" y="169164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hermal circle"/>
          <p:cNvSpPr/>
          <p:nvPr/>
        </p:nvSpPr>
        <p:spPr>
          <a:xfrm>
            <a:off x="3639312" y="19659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Thermal icon" descr="Ther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188" y="2116836"/>
            <a:ext cx="384048" cy="384048"/>
          </a:xfrm>
          <a:prstGeom prst="rect">
            <a:avLst/>
          </a:prstGeom>
        </p:spPr>
      </p:pic>
      <p:sp>
        <p:nvSpPr>
          <p:cNvPr id="12" name="Thermal header"/>
          <p:cNvSpPr txBox="1"/>
          <p:nvPr/>
        </p:nvSpPr>
        <p:spPr>
          <a:xfrm>
            <a:off x="3639312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Thermal</a:t>
            </a:r>
            <a:endParaRPr lang="en-US" sz="2000" dirty="0"/>
          </a:p>
        </p:txBody>
      </p:sp>
      <p:sp>
        <p:nvSpPr>
          <p:cNvPr id="13" name="Thermal text"/>
          <p:cNvSpPr txBox="1"/>
          <p:nvPr/>
        </p:nvSpPr>
        <p:spPr>
          <a:xfrm>
            <a:off x="3639312" y="333756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Up to 1 m of length change per orbit. The winch needs that range and control.</a:t>
            </a:r>
            <a:endParaRPr lang="en-US" sz="1500" dirty="0"/>
          </a:p>
        </p:txBody>
      </p:sp>
      <p:sp>
        <p:nvSpPr>
          <p:cNvPr id="14" name="risk card Debris"/>
          <p:cNvSpPr/>
          <p:nvPr/>
        </p:nvSpPr>
        <p:spPr>
          <a:xfrm>
            <a:off x="6181344" y="169164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Debris circle"/>
          <p:cNvSpPr/>
          <p:nvPr/>
        </p:nvSpPr>
        <p:spPr>
          <a:xfrm>
            <a:off x="6455664" y="196596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Debris icon" descr="Debri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2116836"/>
            <a:ext cx="384048" cy="384048"/>
          </a:xfrm>
          <a:prstGeom prst="rect">
            <a:avLst/>
          </a:prstGeom>
        </p:spPr>
      </p:pic>
      <p:sp>
        <p:nvSpPr>
          <p:cNvPr id="17" name="Debris header"/>
          <p:cNvSpPr txBox="1"/>
          <p:nvPr/>
        </p:nvSpPr>
        <p:spPr>
          <a:xfrm>
            <a:off x="6455664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Debris</a:t>
            </a:r>
            <a:endParaRPr lang="en-US" sz="2000" dirty="0"/>
          </a:p>
        </p:txBody>
      </p:sp>
      <p:sp>
        <p:nvSpPr>
          <p:cNvPr id="18" name="Debris text"/>
          <p:cNvSpPr txBox="1"/>
          <p:nvPr/>
        </p:nvSpPr>
        <p:spPr>
          <a:xfrm>
            <a:off x="6455664" y="333756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1 km object has a larger collision cross-section. Confirm admissibility with CSA.</a:t>
            </a:r>
            <a:endParaRPr lang="en-US" sz="1500" dirty="0"/>
          </a:p>
        </p:txBody>
      </p:sp>
      <p:sp>
        <p:nvSpPr>
          <p:cNvPr id="19" name="risk card Mass"/>
          <p:cNvSpPr/>
          <p:nvPr/>
        </p:nvSpPr>
        <p:spPr>
          <a:xfrm>
            <a:off x="8997696" y="169164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Mass circle"/>
          <p:cNvSpPr/>
          <p:nvPr/>
        </p:nvSpPr>
        <p:spPr>
          <a:xfrm>
            <a:off x="9272016" y="196596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Mass icon" descr="Ma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892" y="2116836"/>
            <a:ext cx="384048" cy="384048"/>
          </a:xfrm>
          <a:prstGeom prst="rect">
            <a:avLst/>
          </a:prstGeom>
        </p:spPr>
      </p:pic>
      <p:sp>
        <p:nvSpPr>
          <p:cNvPr id="22" name="Mass header"/>
          <p:cNvSpPr txBox="1"/>
          <p:nvPr/>
        </p:nvSpPr>
        <p:spPr>
          <a:xfrm>
            <a:off x="9272016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Mass</a:t>
            </a:r>
            <a:endParaRPr lang="en-US" sz="2000" dirty="0"/>
          </a:p>
        </p:txBody>
      </p:sp>
      <p:sp>
        <p:nvSpPr>
          <p:cNvPr id="23" name="Mass text"/>
          <p:cNvSpPr txBox="1"/>
          <p:nvPr/>
        </p:nvSpPr>
        <p:spPr>
          <a:xfrm>
            <a:off x="9272016" y="333756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132 g of tether and larger drums inside two 3U halves.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5 · RISKS AND NEXT STEPS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Decisions for the team</a:t>
            </a:r>
            <a:endParaRPr lang="en-US" sz="3200" dirty="0"/>
          </a:p>
        </p:txBody>
      </p:sp>
      <p:sp>
        <p:nvSpPr>
          <p:cNvPr id="4" name="step circle 1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tep header 1"/>
          <p:cNvSpPr txBox="1"/>
          <p:nvPr/>
        </p:nvSpPr>
        <p:spPr>
          <a:xfrm>
            <a:off x="1371600" y="1645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Tether length</a:t>
            </a:r>
            <a:endParaRPr lang="en-US" sz="1800" dirty="0"/>
          </a:p>
        </p:txBody>
      </p:sp>
      <p:sp>
        <p:nvSpPr>
          <p:cNvPr id="7" name="step text 1"/>
          <p:cNvSpPr txBox="1"/>
          <p:nvPr/>
        </p:nvSpPr>
        <p:spPr>
          <a:xfrm>
            <a:off x="1371600" y="199339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500 m or 1 km, weighed against mission life (1.2 vs 0.6 years at 550 km).</a:t>
            </a:r>
            <a:endParaRPr lang="en-US" sz="1500" dirty="0"/>
          </a:p>
        </p:txBody>
      </p:sp>
      <p:sp>
        <p:nvSpPr>
          <p:cNvPr id="8" name="step circle 2"/>
          <p:cNvSpPr/>
          <p:nvPr/>
        </p:nvSpPr>
        <p:spPr>
          <a:xfrm>
            <a:off x="548640" y="25877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number 2"/>
          <p:cNvSpPr txBox="1"/>
          <p:nvPr/>
        </p:nvSpPr>
        <p:spPr>
          <a:xfrm>
            <a:off x="548640" y="2587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step header 2"/>
          <p:cNvSpPr txBox="1"/>
          <p:nvPr/>
        </p:nvSpPr>
        <p:spPr>
          <a:xfrm>
            <a:off x="1371600" y="254203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Attitude sensors</a:t>
            </a:r>
            <a:endParaRPr lang="en-US" sz="1800" dirty="0"/>
          </a:p>
        </p:txBody>
      </p:sp>
      <p:sp>
        <p:nvSpPr>
          <p:cNvPr id="11" name="step text 2"/>
          <p:cNvSpPr txBox="1"/>
          <p:nvPr/>
        </p:nvSpPr>
        <p:spPr>
          <a:xfrm>
            <a:off x="1371600" y="288950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Star tracker and GNSS on each half; IMU and encoders as support.</a:t>
            </a:r>
            <a:endParaRPr lang="en-US" sz="1500" dirty="0"/>
          </a:p>
        </p:txBody>
      </p:sp>
      <p:sp>
        <p:nvSpPr>
          <p:cNvPr id="12" name="step circle 3"/>
          <p:cNvSpPr/>
          <p:nvPr/>
        </p:nvSpPr>
        <p:spPr>
          <a:xfrm>
            <a:off x="548640" y="3483864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tep number 3"/>
          <p:cNvSpPr txBox="1"/>
          <p:nvPr/>
        </p:nvSpPr>
        <p:spPr>
          <a:xfrm>
            <a:off x="548640" y="3483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tep header 3"/>
          <p:cNvSpPr txBox="1"/>
          <p:nvPr/>
        </p:nvSpPr>
        <p:spPr>
          <a:xfrm>
            <a:off x="1371600" y="343814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Imaging claim</a:t>
            </a:r>
            <a:endParaRPr lang="en-US" sz="1800" dirty="0"/>
          </a:p>
        </p:txBody>
      </p:sp>
      <p:sp>
        <p:nvSpPr>
          <p:cNvPr id="15" name="step text 3"/>
          <p:cNvSpPr txBox="1"/>
          <p:nvPr/>
        </p:nvSpPr>
        <p:spPr>
          <a:xfrm>
            <a:off x="1371600" y="378561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Drop tether stereo; use fore/aft or gimbal cameras for 3D.</a:t>
            </a:r>
            <a:endParaRPr lang="en-US" sz="1500" dirty="0"/>
          </a:p>
        </p:txBody>
      </p:sp>
      <p:sp>
        <p:nvSpPr>
          <p:cNvPr id="16" name="step circle 4"/>
          <p:cNvSpPr/>
          <p:nvPr/>
        </p:nvSpPr>
        <p:spPr>
          <a:xfrm>
            <a:off x="548640" y="4379976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ep number 4"/>
          <p:cNvSpPr txBox="1"/>
          <p:nvPr/>
        </p:nvSpPr>
        <p:spPr>
          <a:xfrm>
            <a:off x="548640" y="4379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step header 4"/>
          <p:cNvSpPr txBox="1"/>
          <p:nvPr/>
        </p:nvSpPr>
        <p:spPr>
          <a:xfrm>
            <a:off x="1371600" y="433425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Questions to CSA by 9 Nov</a:t>
            </a:r>
            <a:endParaRPr lang="en-US" sz="1800" dirty="0"/>
          </a:p>
        </p:txBody>
      </p:sp>
      <p:sp>
        <p:nvSpPr>
          <p:cNvPr id="19" name="step text 4"/>
          <p:cNvSpPr txBox="1"/>
          <p:nvPr/>
        </p:nvSpPr>
        <p:spPr>
          <a:xfrm>
            <a:off x="1371600" y="46817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Launch altitude, tether admissibility, deorbit case.</a:t>
            </a:r>
            <a:endParaRPr lang="en-US" sz="1500" dirty="0"/>
          </a:p>
        </p:txBody>
      </p:sp>
      <p:sp>
        <p:nvSpPr>
          <p:cNvPr id="20" name="step circle 5"/>
          <p:cNvSpPr/>
          <p:nvPr/>
        </p:nvSpPr>
        <p:spPr>
          <a:xfrm>
            <a:off x="548640" y="527608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tep number 5"/>
          <p:cNvSpPr txBox="1"/>
          <p:nvPr/>
        </p:nvSpPr>
        <p:spPr>
          <a:xfrm>
            <a:off x="548640" y="5276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step header 5"/>
          <p:cNvSpPr txBox="1"/>
          <p:nvPr/>
        </p:nvSpPr>
        <p:spPr>
          <a:xfrm>
            <a:off x="1371600" y="52303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Analysis</a:t>
            </a:r>
            <a:endParaRPr lang="en-US" sz="1800" dirty="0"/>
          </a:p>
        </p:txBody>
      </p:sp>
      <p:sp>
        <p:nvSpPr>
          <p:cNvPr id="23" name="step text 5"/>
          <p:cNvSpPr txBox="1"/>
          <p:nvPr/>
        </p:nvSpPr>
        <p:spPr>
          <a:xfrm>
            <a:off x="1371600" y="55778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Formal orbit-life study and thermal model of the tether.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thered 6U">
  <a:themeElements>
    <a:clrScheme name="Tethered 6U">
      <a:dk1>
        <a:srgbClr val="0F1C2E"/>
      </a:dk1>
      <a:lt1>
        <a:srgbClr val="FFFFFF"/>
      </a:lt1>
      <a:dk2>
        <a:srgbClr val="1D3557"/>
      </a:dk2>
      <a:lt2>
        <a:srgbClr val="EEF2F6"/>
      </a:lt2>
      <a:accent1>
        <a:srgbClr val="1B998B"/>
      </a:accent1>
      <a:accent2>
        <a:srgbClr val="E8913A"/>
      </a:accent2>
      <a:accent3>
        <a:srgbClr val="D1495B"/>
      </a:accent3>
      <a:accent4>
        <a:srgbClr val="6C8EAD"/>
      </a:accent4>
      <a:accent5>
        <a:srgbClr val="2E7D5B"/>
      </a:accent5>
      <a:accent6>
        <a:srgbClr val="8A96A3"/>
      </a:accent6>
      <a:hlink>
        <a:srgbClr val="1B998B"/>
      </a:hlink>
      <a:folHlink>
        <a:srgbClr val="6C8EAD"/>
      </a:folHlink>
    </a:clrScheme>
    <a:fontScheme name="Tethered 6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Tethered 6U CubeSat: tether range, attitude, heritage and 3D imaging</dc:title>
  <dc:subject>PptxGenJS Presentation</dc:subject>
  <dc:creator>CUBICS 2026 team</dc:creator>
  <cp:lastModifiedBy>CUBICS 2026 team</cp:lastModifiedBy>
  <cp:revision>1</cp:revision>
  <dcterms:created xsi:type="dcterms:W3CDTF">2026-10-07T14:49:26Z</dcterms:created>
  <dcterms:modified xsi:type="dcterms:W3CDTF">2026-10-07T14:49:26Z</dcterms:modified>
</cp:coreProperties>
</file>